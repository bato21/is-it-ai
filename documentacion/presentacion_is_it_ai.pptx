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 notas_presentacion.md — slide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 notas_presentacion.md —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 notas_presentacion.md —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 notas_presentacion.md — slide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 notas_presentacion.md — slide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 notas_presentacion.md — slide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 notas_presentacion.md — slide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 notas_presentacion.md — slide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portada_light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85800" y="63825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C6577"/>
                </a:solidFill>
                <a:latin typeface="Segoe UI"/>
              </a:rPr>
              <a:t>Frameworks de IA · UDD · Avance 1</a:t>
            </a:r>
          </a:p>
        </p:txBody>
      </p:sp>
    </p:spTree>
  </p:cSld>
  <p:clrMapOvr>
    <a:masterClrMapping/>
  </p:clrMapOvr>
  <p:transition spd="fast">
    <p:fade thruBlk="1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60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EA8A0"/>
                </a:solidFill>
                <a:latin typeface="Segoe UI"/>
              </a:rPr>
              <a:t>DESCRIPCIÓN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1B2130"/>
                </a:solidFill>
                <a:latin typeface="Segoe UI"/>
              </a:rPr>
              <a:t>Un clasificador móvil de huella de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60704"/>
            <a:ext cx="2194560" cy="50800"/>
          </a:xfrm>
          <a:prstGeom prst="rect">
            <a:avLst/>
          </a:prstGeom>
          <a:gradFill rotWithShape="1">
            <a:gsLst>
              <a:gs pos="0">
                <a:srgbClr val="6D4AFF"/>
              </a:gs>
              <a:gs pos="100000">
                <a:srgbClr val="0EA8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6675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700" b="1">
                <a:solidFill>
                  <a:srgbClr val="0EA8A0"/>
                </a:solidFill>
              </a:rPr>
              <a:t>—  </a:t>
            </a:r>
            <a:r>
              <a:rPr sz="1700" b="1">
                <a:solidFill>
                  <a:srgbClr val="1B2130"/>
                </a:solidFill>
                <a:latin typeface="Segoe UI"/>
              </a:rPr>
              <a:t>A partir de una foto de una diapositiva, estimar cuánta huella de generación por IA presenta.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700" b="1">
                <a:solidFill>
                  <a:srgbClr val="0EA8A0"/>
                </a:solidFill>
              </a:rPr>
              <a:t>—  </a:t>
            </a:r>
            <a:r>
              <a:rPr sz="1700" b="0">
                <a:solidFill>
                  <a:srgbClr val="1B2130"/>
                </a:solidFill>
                <a:latin typeface="Segoe UI"/>
              </a:rPr>
              <a:t>No medimos procedencia (el proceso): medimos densidad de artefactos visuales — lo único que una CNN puede aprender de una imagen.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700" b="1">
                <a:solidFill>
                  <a:srgbClr val="0EA8A0"/>
                </a:solidFill>
              </a:rPr>
              <a:t>—  </a:t>
            </a:r>
            <a:r>
              <a:rPr sz="1700" b="0">
                <a:solidFill>
                  <a:srgbClr val="1B2130"/>
                </a:solidFill>
                <a:latin typeface="Segoe UI"/>
              </a:rPr>
              <a:t>Requisitos del curso: implementación dual TensorFlow + PyTorch, base MobileNetV3 (transfer learning) y exportación móvil.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700" b="1">
                <a:solidFill>
                  <a:srgbClr val="0EA8A0"/>
                </a:solidFill>
              </a:rPr>
              <a:t>—  </a:t>
            </a:r>
            <a:r>
              <a:rPr sz="1700" b="0">
                <a:solidFill>
                  <a:srgbClr val="1B2130"/>
                </a:solidFill>
                <a:latin typeface="Segoe UI"/>
              </a:rPr>
              <a:t>Estrategia: desarrollo incremental — primero una CNN simple para diagnosticar (v1, v2), después la arquitectura final (v3).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783080"/>
            <a:ext cx="37033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4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48840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6D4AFF"/>
                </a:solidFill>
                <a:latin typeface="Segoe UI"/>
              </a:rPr>
              <a:t>La idea clave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130"/>
                </a:solidFill>
                <a:latin typeface="Segoe UI"/>
              </a:rPr>
              <a:t>Una foto contiene el resultado visual, no el proceso.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C6577"/>
                </a:solidFill>
                <a:latin typeface="Segoe UI"/>
              </a:rPr>
              <a:t>Por eso el label dice lo que el modelo realmente puede aprender.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C6577"/>
                </a:solidFill>
                <a:latin typeface="Segoe UI"/>
              </a:rPr>
              <a:t>Is-it-AI · Frameworks de IA · UDD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C6577"/>
                </a:solidFill>
                <a:latin typeface="Segoe UI"/>
              </a:rPr>
              <a:t>02 / 8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60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EA8A0"/>
                </a:solidFill>
                <a:latin typeface="Segoe UI"/>
              </a:rPr>
              <a:t>SEPARACIÓN EN 3 CATEGORÍAS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1B2130"/>
                </a:solidFill>
                <a:latin typeface="Segoe UI"/>
              </a:rPr>
              <a:t>Tres categorías — un eje ordinal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60704"/>
            <a:ext cx="2194560" cy="50800"/>
          </a:xfrm>
          <a:prstGeom prst="rect">
            <a:avLst/>
          </a:prstGeom>
          <a:gradFill rotWithShape="1">
            <a:gsLst>
              <a:gs pos="0">
                <a:srgbClr val="6D4AFF"/>
              </a:gs>
              <a:gs pos="100000">
                <a:srgbClr val="0EA8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ight_gradiente_cl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554480"/>
            <a:ext cx="10149840" cy="2690190"/>
          </a:xfrm>
          <a:prstGeom prst="rect">
            <a:avLst/>
          </a:prstGeom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822960" y="461772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600" b="1">
                <a:solidFill>
                  <a:srgbClr val="0EA8A0"/>
                </a:solidFill>
              </a:rPr>
              <a:t>—  </a:t>
            </a:r>
            <a:r>
              <a:rPr sz="1600" b="0">
                <a:solidFill>
                  <a:srgbClr val="1B2130"/>
                </a:solidFill>
                <a:latin typeface="Segoe UI"/>
              </a:rPr>
              <a:t>Un binario IA / no-IA sería deshonesto con el enorme medio asistido — por eso 3 niveles.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600" b="1">
                <a:solidFill>
                  <a:srgbClr val="0EA8A0"/>
                </a:solidFill>
              </a:rPr>
              <a:t>—  </a:t>
            </a:r>
            <a:r>
              <a:rPr sz="1600" b="0">
                <a:solidFill>
                  <a:srgbClr val="1B2130"/>
                </a:solidFill>
                <a:latin typeface="Segoe UI"/>
              </a:rPr>
              <a:t>Cada clase se define por lo que se ve (densidad de artefactos), no por cómo se hizo.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600" b="1">
                <a:solidFill>
                  <a:srgbClr val="D93025"/>
                </a:solidFill>
              </a:rPr>
              <a:t>—  </a:t>
            </a:r>
            <a:r>
              <a:rPr sz="1600" b="0">
                <a:solidFill>
                  <a:srgbClr val="1B2130"/>
                </a:solidFill>
                <a:latin typeface="Segoe UI"/>
              </a:rPr>
              <a:t>El softmax entrega confianza por nivel; la frontera 1↔2 es el punto más frágil (protocolo pendiente).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C6577"/>
                </a:solidFill>
                <a:latin typeface="Segoe UI"/>
              </a:rPr>
              <a:t>Is-it-AI · Frameworks de IA · UDD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C6577"/>
                </a:solidFill>
                <a:latin typeface="Segoe UI"/>
              </a:rPr>
              <a:t>03 / 8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60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EA8A0"/>
                </a:solidFill>
                <a:latin typeface="Segoe UI"/>
              </a:rPr>
              <a:t>DATOS USADOS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1B2130"/>
                </a:solidFill>
                <a:latin typeface="Segoe UI"/>
              </a:rPr>
              <a:t>300 imágenes reales, etiquetadas por procedencia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60704"/>
            <a:ext cx="2194560" cy="50800"/>
          </a:xfrm>
          <a:prstGeom prst="rect">
            <a:avLst/>
          </a:prstGeom>
          <a:gradFill rotWithShape="1">
            <a:gsLst>
              <a:gs pos="0">
                <a:srgbClr val="6D4AFF"/>
              </a:gs>
              <a:gs pos="100000">
                <a:srgbClr val="0EA8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igh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8760"/>
            <a:ext cx="10881360" cy="2605799"/>
          </a:xfrm>
          <a:prstGeom prst="rect">
            <a:avLst/>
          </a:prstGeom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822960" y="416052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550" b="1">
                <a:solidFill>
                  <a:srgbClr val="0EA8A0"/>
                </a:solidFill>
              </a:rPr>
              <a:t>—  </a:t>
            </a:r>
            <a:r>
              <a:rPr sz="1550" b="1">
                <a:solidFill>
                  <a:srgbClr val="1B2130"/>
                </a:solidFill>
                <a:latin typeface="Segoe UI"/>
              </a:rPr>
              <a:t>Balanceado: ~100 imágenes por clase. Primer lote con señal real.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550" b="1">
                <a:solidFill>
                  <a:srgbClr val="0EA8A0"/>
                </a:solidFill>
              </a:rPr>
              <a:t>—  </a:t>
            </a:r>
            <a:r>
              <a:rPr sz="1550" b="0">
                <a:solidFill>
                  <a:srgbClr val="1B2130"/>
                </a:solidFill>
                <a:latin typeface="Segoe UI"/>
              </a:rPr>
              <a:t>El label sale automático de la procedencia (invertimos el problema): decks pre-2022 → clase 0; generados con Gamma/Copilot/Canva → clase 2.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550" b="1">
                <a:solidFill>
                  <a:srgbClr val="0EA8A0"/>
                </a:solidFill>
              </a:rPr>
              <a:t>—  </a:t>
            </a:r>
            <a:r>
              <a:rPr sz="1550" b="0">
                <a:solidFill>
                  <a:srgbClr val="1B2130"/>
                </a:solidFill>
                <a:latin typeface="Segoe UI"/>
              </a:rPr>
              <a:t>Prefijos 0_/1_/2_ fijan el orden de clases (Keras y PyTorch ordenan alfabético) — verificado en cada corrida.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550" b="1">
                <a:solidFill>
                  <a:srgbClr val="0EA8A0"/>
                </a:solidFill>
              </a:rPr>
              <a:t>—  </a:t>
            </a:r>
            <a:r>
              <a:rPr sz="1550" b="0">
                <a:solidFill>
                  <a:srgbClr val="5C6577"/>
                </a:solidFill>
                <a:latin typeface="Segoe UI"/>
              </a:rPr>
              <a:t>La clase 2, la más cara de producir, fija el techo de tamaño del dataset.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C6577"/>
                </a:solidFill>
                <a:latin typeface="Segoe UI"/>
              </a:rPr>
              <a:t>Is-it-AI · Frameworks de IA · UDD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C6577"/>
                </a:solidFill>
                <a:latin typeface="Segoe UI"/>
              </a:rPr>
              <a:t>04 / 8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60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EA8A0"/>
                </a:solidFill>
                <a:latin typeface="Segoe UI"/>
              </a:rPr>
              <a:t>FRAMEWORKS · PYTORCH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1B2130"/>
                </a:solidFill>
                <a:latin typeface="Segoe UI"/>
              </a:rPr>
              <a:t>PyTorch — resultados v1 → v2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60704"/>
            <a:ext cx="2194560" cy="50800"/>
          </a:xfrm>
          <a:prstGeom prst="rect">
            <a:avLst/>
          </a:prstGeom>
          <a:gradFill rotWithShape="1">
            <a:gsLst>
              <a:gs pos="0">
                <a:srgbClr val="6D4AFF"/>
              </a:gs>
              <a:gs pos="100000">
                <a:srgbClr val="0EA8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D94A26"/>
                </a:solidFill>
                <a:latin typeface="Segoe UI"/>
              </a:rPr>
              <a:t>Curvas v2 (accuracy y loss)</a:t>
            </a:r>
          </a:p>
        </p:txBody>
      </p:sp>
      <p:pic>
        <p:nvPicPr>
          <p:cNvPr id="6" name="Picture 5" descr="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9344"/>
            <a:ext cx="6903720" cy="226383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391363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D94A26"/>
                </a:solidFill>
                <a:latin typeface="Segoe UI"/>
              </a:rPr>
              <a:t>Matriz de confusión v2 (val)</a:t>
            </a:r>
          </a:p>
        </p:txBody>
      </p:sp>
      <p:pic>
        <p:nvPicPr>
          <p:cNvPr id="8" name="Picture 7" descr="Figure_2_matri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24528"/>
            <a:ext cx="2088754" cy="21031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291840" y="4343400"/>
            <a:ext cx="4480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0EA8A0"/>
                </a:solidFill>
              </a:rPr>
              <a:t>—  </a:t>
            </a:r>
            <a:r>
              <a:rPr sz="1350" b="0">
                <a:solidFill>
                  <a:srgbClr val="1B2130"/>
                </a:solidFill>
                <a:latin typeface="Segoe UI"/>
              </a:rPr>
              <a:t>Augmentation en el transform del DataLoader (solo train).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0EA8A0"/>
                </a:solidFill>
              </a:rPr>
              <a:t>—  </a:t>
            </a:r>
            <a:r>
              <a:rPr sz="1350" b="0">
                <a:solidFill>
                  <a:srgbClr val="1B2130"/>
                </a:solidFill>
                <a:latin typeface="Segoe UI"/>
              </a:rPr>
              <a:t>Error concentrado en vecinos; 1 caso extremo 2→0.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609344"/>
            <a:ext cx="3657600" cy="47183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4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792224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94A26"/>
                </a:solidFill>
                <a:latin typeface="Segoe UI"/>
              </a:rPr>
              <a:t>v1 — sin augmentation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130"/>
                </a:solidFill>
                <a:latin typeface="Consolas"/>
              </a:rPr>
              <a:t>acc  0.996 → 0.833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D93025"/>
                </a:solidFill>
                <a:latin typeface="Consolas"/>
              </a:rPr>
              <a:t>loss 0.029 → 0.406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D94A26"/>
                </a:solidFill>
                <a:latin typeface="Segoe UI"/>
              </a:rPr>
              <a:t>v2 — con augmentation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130"/>
                </a:solidFill>
                <a:latin typeface="Consolas"/>
              </a:rPr>
              <a:t>acc  0.708 → 0.717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EA8A0"/>
                </a:solidFill>
                <a:latin typeface="Consolas"/>
              </a:rPr>
              <a:t>loss 0.669 → 0.707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C6577"/>
                </a:solidFill>
                <a:latin typeface="Segoe UI"/>
              </a:rPr>
              <a:t>v1 memoriza (brecha en la loss); v2 la elimina: curvas train/val pegadas.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C6577"/>
                </a:solidFill>
                <a:latin typeface="Segoe UI"/>
              </a:rPr>
              <a:t>Is-it-AI · Frameworks de IA · UDD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C6577"/>
                </a:solidFill>
                <a:latin typeface="Segoe UI"/>
              </a:rPr>
              <a:t>05 / 8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60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EA8A0"/>
                </a:solidFill>
                <a:latin typeface="Segoe UI"/>
              </a:rPr>
              <a:t>FRAMEWORKS · TENSORFLOW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1B2130"/>
                </a:solidFill>
                <a:latin typeface="Segoe UI"/>
              </a:rPr>
              <a:t>TensorFlow — resultados v1 → v2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60704"/>
            <a:ext cx="2194560" cy="50800"/>
          </a:xfrm>
          <a:prstGeom prst="rect">
            <a:avLst/>
          </a:prstGeom>
          <a:gradFill rotWithShape="1">
            <a:gsLst>
              <a:gs pos="0">
                <a:srgbClr val="6D4AFF"/>
              </a:gs>
              <a:gs pos="100000">
                <a:srgbClr val="0EA8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E8731A"/>
                </a:solidFill>
                <a:latin typeface="Segoe UI"/>
              </a:rPr>
              <a:t>Curvas v2 (accuracy y loss)</a:t>
            </a:r>
          </a:p>
        </p:txBody>
      </p:sp>
      <p:pic>
        <p:nvPicPr>
          <p:cNvPr id="6" name="Picture 5" descr="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9344"/>
            <a:ext cx="6903720" cy="2297401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391363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E8731A"/>
                </a:solidFill>
                <a:latin typeface="Segoe UI"/>
              </a:rPr>
              <a:t>Matriz de confusión v2 (val)</a:t>
            </a:r>
          </a:p>
        </p:txBody>
      </p:sp>
      <p:pic>
        <p:nvPicPr>
          <p:cNvPr id="8" name="Picture 7" descr="Figure_2_matri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24528"/>
            <a:ext cx="2103120" cy="21031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291840" y="4343400"/>
            <a:ext cx="4480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0EA8A0"/>
                </a:solidFill>
              </a:rPr>
              <a:t>—  </a:t>
            </a:r>
            <a:r>
              <a:rPr sz="1350" b="0">
                <a:solidFill>
                  <a:srgbClr val="1B2130"/>
                </a:solidFill>
                <a:latin typeface="Segoe UI"/>
              </a:rPr>
              <a:t>Augmentation como capas del modelo (se apagan solas al inferir).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D93025"/>
                </a:solidFill>
              </a:rPr>
              <a:t>—  </a:t>
            </a:r>
            <a:r>
              <a:rPr sz="1350" b="0">
                <a:solidFill>
                  <a:srgbClr val="1B2130"/>
                </a:solidFill>
                <a:latin typeface="Segoe UI"/>
              </a:rPr>
              <a:t>3 casos extremos 2→0: se re-evalúan tras converger.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609344"/>
            <a:ext cx="3657600" cy="47183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792224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E8731A"/>
                </a:solidFill>
                <a:latin typeface="Segoe UI"/>
              </a:rPr>
              <a:t>v1 — sin augmentation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130"/>
                </a:solidFill>
                <a:latin typeface="Consolas"/>
              </a:rPr>
              <a:t>acc  1.000 → 0.967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D93025"/>
                </a:solidFill>
                <a:latin typeface="Consolas"/>
              </a:rPr>
              <a:t>loss 0.010 → 0.103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E8731A"/>
                </a:solidFill>
                <a:latin typeface="Segoe UI"/>
              </a:rPr>
              <a:t>v2 — con augmentation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130"/>
                </a:solidFill>
                <a:latin typeface="Consolas"/>
              </a:rPr>
              <a:t>acc  0.771 → 0.750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EA8A0"/>
                </a:solidFill>
                <a:latin typeface="Consolas"/>
              </a:rPr>
              <a:t>loss 0.529 → 0.550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C6577"/>
                </a:solidFill>
                <a:latin typeface="Segoe UI"/>
              </a:rPr>
              <a:t>v1 memoriza (brecha en la loss); v2 la elimina: curvas train/val pegadas.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C6577"/>
                </a:solidFill>
                <a:latin typeface="Segoe UI"/>
              </a:rPr>
              <a:t>Is-it-AI · Frameworks de IA · UDD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C6577"/>
                </a:solidFill>
                <a:latin typeface="Segoe UI"/>
              </a:rPr>
              <a:t>06 / 8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60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EA8A0"/>
                </a:solidFill>
                <a:latin typeface="Segoe UI"/>
              </a:rPr>
              <a:t>ESTADO ACTUAL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1B2130"/>
                </a:solidFill>
                <a:latin typeface="Segoe UI"/>
              </a:rPr>
              <a:t>Dónde estamos (honesto)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60704"/>
            <a:ext cx="2194560" cy="50800"/>
          </a:xfrm>
          <a:prstGeom prst="rect">
            <a:avLst/>
          </a:prstGeom>
          <a:gradFill rotWithShape="1">
            <a:gsLst>
              <a:gs pos="0">
                <a:srgbClr val="6D4AFF"/>
              </a:gs>
              <a:gs pos="100000">
                <a:srgbClr val="0EA8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5661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6A34A"/>
                </a:solidFill>
                <a:latin typeface="Segoe UI"/>
              </a:rPr>
              <a:t>Logrado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130"/>
                </a:solidFill>
                <a:latin typeface="Segoe UI"/>
              </a:rPr>
              <a:t>· Pipeline de datos completo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130"/>
                </a:solidFill>
                <a:latin typeface="Segoe UI"/>
              </a:rPr>
              <a:t>· Dataset 300 imgs balanceado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130"/>
                </a:solidFill>
                <a:latin typeface="Segoe UI"/>
              </a:rPr>
              <a:t>· v1 y v2 corridas en ambos frameworks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130"/>
                </a:solidFill>
                <a:latin typeface="Segoe UI"/>
              </a:rPr>
              <a:t>· Matriz de confusión operando como instrumento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08760"/>
            <a:ext cx="35661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6916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EA8A0"/>
                </a:solidFill>
                <a:latin typeface="Segoe UI"/>
              </a:rPr>
              <a:t>Diagnóstico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130"/>
                </a:solidFill>
                <a:latin typeface="Segoe UI"/>
              </a:rPr>
              <a:t>· v1 sobreajusta (brecha ~10× en loss)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130"/>
                </a:solidFill>
                <a:latin typeface="Segoe UI"/>
              </a:rPr>
              <a:t>· v2 lo elimina con augmentation domain-aware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130"/>
                </a:solidFill>
                <a:latin typeface="Segoe UI"/>
              </a:rPr>
              <a:t>· El modelo quedó sub-entrenado: curvas aún subiendo en la época 10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B2130"/>
                </a:solidFill>
                <a:latin typeface="Segoe UI"/>
              </a:rPr>
              <a:t>· Dos frameworks → misma conclusión: lectura robusta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508760"/>
            <a:ext cx="35661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6916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D93025"/>
                </a:solidFill>
                <a:latin typeface="Segoe UI"/>
              </a:rPr>
              <a:t>Pendiente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130"/>
                </a:solidFill>
                <a:latin typeface="Segoe UI"/>
              </a:rPr>
              <a:t>· Protocolo de etiquetado frontera 1↔2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130"/>
                </a:solidFill>
                <a:latin typeface="Segoe UI"/>
              </a:rPr>
              <a:t>· Domain gap: ni una foto real probada aún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130"/>
                </a:solidFill>
                <a:latin typeface="Segoe UI"/>
              </a:rPr>
              <a:t>· Confusión 0↔2 sin resolver (¿ruido?)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130"/>
                </a:solidFill>
                <a:latin typeface="Segoe UI"/>
              </a:rPr>
              <a:t>· MobileNetV3 y export móvil (v3)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C6577"/>
                </a:solidFill>
                <a:latin typeface="Segoe UI"/>
              </a:rPr>
              <a:t>Is-it-AI · Frameworks de IA · UDD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C6577"/>
                </a:solidFill>
                <a:latin typeface="Segoe UI"/>
              </a:rPr>
              <a:t>07 / 8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60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EA8A0"/>
                </a:solidFill>
                <a:latin typeface="Segoe UI"/>
              </a:rPr>
              <a:t>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1B2130"/>
                </a:solidFill>
                <a:latin typeface="Segoe UI"/>
              </a:rPr>
              <a:t>Qué sigue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60704"/>
            <a:ext cx="2194560" cy="50800"/>
          </a:xfrm>
          <a:prstGeom prst="rect">
            <a:avLst/>
          </a:prstGeom>
          <a:gradFill rotWithShape="1">
            <a:gsLst>
              <a:gs pos="0">
                <a:srgbClr val="6D4AFF"/>
              </a:gs>
              <a:gs pos="100000">
                <a:srgbClr val="0EA8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ight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881360" cy="2519894"/>
          </a:xfrm>
          <a:prstGeom prst="rect">
            <a:avLst/>
          </a:prstGeom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822960" y="45720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B2130"/>
                </a:solidFill>
                <a:latin typeface="Segoe UI"/>
              </a:rPr>
              <a:t>La regla: leer el estado del modelo y responder — no amontonar técnicas.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0EA8A0"/>
                </a:solidFill>
                <a:latin typeface="Segoe UI"/>
              </a:rPr>
              <a:t>¿Preguntas?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C6577"/>
                </a:solidFill>
                <a:latin typeface="Segoe UI"/>
              </a:rPr>
              <a:t>Is-it-AI · Frameworks de IA · UDD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C6577"/>
                </a:solidFill>
                <a:latin typeface="Segoe UI"/>
              </a:rPr>
              <a:t>08 / 8</a:t>
            </a:r>
          </a:p>
        </p:txBody>
      </p:sp>
    </p:spTree>
  </p:cSld>
  <p:clrMapOvr>
    <a:masterClrMapping/>
  </p:clrMapOvr>
  <p:transition spd="fast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