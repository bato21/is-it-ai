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3-2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3.png"/><Relationship Id="rId6" Type="http://schemas.openxmlformats.org/officeDocument/2006/relationships/image" Target="../media/image-5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42727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Is-it-AI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661475" y="2293640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649736"/>
            <a:ext cx="6296860" cy="171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Clasificador móvil de </a:t>
            </a:r>
            <a:pPr algn="l" indent="0" marL="0">
              <a:lnSpc>
                <a:spcPct val="104000"/>
              </a:lnSpc>
              <a:buNone/>
            </a:pPr>
            <a:r>
              <a:rPr lang="en-US" sz="535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huella de IA</a:t>
            </a:r>
            <a:endParaRPr lang="en-US" sz="5350" dirty="0"/>
          </a:p>
        </p:txBody>
      </p:sp>
      <p:sp>
        <p:nvSpPr>
          <p:cNvPr id="7" name="Text 4"/>
          <p:cNvSpPr/>
          <p:nvPr/>
        </p:nvSpPr>
        <p:spPr>
          <a:xfrm>
            <a:off x="661475" y="464492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 de IA · Universidad del Desarrollo · Avance 1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5159970"/>
            <a:ext cx="2978175" cy="355203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9" name="Text 6"/>
          <p:cNvSpPr/>
          <p:nvPr/>
        </p:nvSpPr>
        <p:spPr>
          <a:xfrm>
            <a:off x="774879" y="5216624"/>
            <a:ext cx="336095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· TRANSFER LEARNING · MOBILE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945" y="126206"/>
            <a:ext cx="4403615" cy="660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6771"/>
            <a:ext cx="5648977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Descripción del </a:t>
            </a:r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Proyecto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61475" y="1453952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partir de una foto de diapositiva, estimar la densidad de artefactos visuales generados por IA. Medimos el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 visual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el proceso.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1814"/>
            <a:ext cx="6296860" cy="12498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3722" y="2319139"/>
            <a:ext cx="220944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Requisitos del curso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03722" y="2685157"/>
            <a:ext cx="5267292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dual TensorFlow + PyTorch, base MobileNetV3 y exportación móvil.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31592"/>
            <a:ext cx="6296860" cy="12498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3722" y="3718917"/>
            <a:ext cx="231104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Estrategia incremental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503722" y="4084935"/>
            <a:ext cx="5267292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simple para diagnosticar (v1, v2) → arquitectura final con MobileNetV3 (v3).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31370"/>
            <a:ext cx="6296860" cy="12498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03722" y="5118695"/>
            <a:ext cx="220944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idea clave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503722" y="5484713"/>
            <a:ext cx="5267292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foto contiene el resultado visual, no el proceso. El label refleja lo que el modelo puede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082"/>
            <a:ext cx="5872313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Tres Categorías — </a:t>
            </a:r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 Eje Ordinal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80505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binario IA / no-IA sería deshonesto con el enorme medio asistido. Por eso definimos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tres niveles ordinales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basados en densidad de artefactos visuales, no en el proceso de creación.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97" y="1644650"/>
            <a:ext cx="7608102" cy="3481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4754" y="2034415"/>
            <a:ext cx="1767132" cy="22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Nivel 2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64754" y="2315153"/>
            <a:ext cx="1855022" cy="4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densidad IA: artefactos visuales de generación automática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471729" y="3250401"/>
            <a:ext cx="1705423" cy="22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Nivel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71729" y="3531139"/>
            <a:ext cx="1705423" cy="286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Asistido: herramientas de apoyo, mezcla de estilos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4754" y="3841330"/>
            <a:ext cx="1767132" cy="22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Nivel 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64754" y="4122068"/>
            <a:ext cx="1855022" cy="286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IA: creación humana, sin artefactos generativos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475" y="5230713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Nivel 0 → Nivel 2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significa “más o menos IA” en el proceso, sino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más o menos densidad de señales visuales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imagen final. La escala es ordinal: sirve para ordenar casos por apariencia, no para medir una cantidad exacta de IA.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1475" y="5694859"/>
            <a:ext cx="10868745" cy="601960"/>
          </a:xfrm>
          <a:prstGeom prst="roundRect">
            <a:avLst>
              <a:gd name="adj" fmla="val 9232"/>
            </a:avLst>
          </a:prstGeom>
          <a:solidFill>
            <a:srgbClr val="CCEE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" y="5871369"/>
            <a:ext cx="165294" cy="1322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1280" y="5820470"/>
            <a:ext cx="1030668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 ordinal: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cada imagen se ubica por lo que muestra, de menor a mayor densidad de artefactos. Esto permite clasificar fotos de diapositivas sin reducirlas a un falso binario.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5426"/>
            <a:ext cx="5333370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Dataset: </a:t>
            </a:r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300 Imágenes</a:t>
            </a:r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Reales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9976"/>
            <a:ext cx="3691044" cy="3691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523" y="1691084"/>
            <a:ext cx="2590140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Construcción del dataset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63523" y="2000647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imágenes por clase, balanceado. El label se asigna automáticamente por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procedencia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(invertimos el problema):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2464792"/>
            <a:ext cx="5273047" cy="793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4791" y="273764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904361" y="2616101"/>
            <a:ext cx="173658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Clase 0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904361" y="2925663"/>
            <a:ext cx="448090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Decks pre-2022 → sin IA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523" y="3351213"/>
            <a:ext cx="5273047" cy="7938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44791" y="362406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904361" y="3502521"/>
            <a:ext cx="173658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Clase 1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904361" y="3812084"/>
            <a:ext cx="448090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de apoyo mixtas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3523" y="4237633"/>
            <a:ext cx="5273047" cy="793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4791" y="451048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904361" y="4388941"/>
            <a:ext cx="1736582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Clase 2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904361" y="4698504"/>
            <a:ext cx="448090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Gamma / Copilot / Canva → alta densidad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63523" y="5135662"/>
            <a:ext cx="5273047" cy="592733"/>
          </a:xfrm>
          <a:prstGeom prst="roundRect">
            <a:avLst>
              <a:gd name="adj" fmla="val 9375"/>
            </a:avLst>
          </a:prstGeom>
          <a:solidFill>
            <a:srgbClr val="CCEE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778" y="5318522"/>
            <a:ext cx="165294" cy="1322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93328" y="5252045"/>
            <a:ext cx="47109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prefijos 0_/1_/2_ fijan el orden de clases (Keras y PyTorch ordenan alfabético). La clase 2, más costosa de producir, fija el techo del dataset.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766"/>
            <a:ext cx="6296760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PyTorch — Resultados </a:t>
            </a:r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v1 → v2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57486"/>
            <a:ext cx="332156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Curvas de entrenamiento v2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237" y="1779389"/>
            <a:ext cx="6366906" cy="210740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997" y="1779389"/>
            <a:ext cx="2362637" cy="237619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62760"/>
            <a:ext cx="5366112" cy="18193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7354" y="4642445"/>
            <a:ext cx="240133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Diagnóstico de versiones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917354" y="4987826"/>
            <a:ext cx="4930552" cy="11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 — sin augmentation: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 0.996→0.833 · loss 0.029→0.406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v2 — con augmentation: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 0.708→0.717 · loss 0.669→0.707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memoriza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(brecha ~10× en loss). v2 la elimina: curvas train/val pegadas, señal de generalización real.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4108" y="4462760"/>
            <a:ext cx="5366112" cy="181937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9987" y="4642445"/>
            <a:ext cx="210864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Interpretación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419987" y="4987826"/>
            <a:ext cx="493055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en el transform del DataLoader (solo train). Error concentrado en clases vecinas; 1 caso extremo 2→0 en matriz de confusión.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065"/>
            <a:ext cx="6935614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TensorFlow — Resultados </a:t>
            </a:r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v1 → v2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95784"/>
            <a:ext cx="332156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Curvas de entrenamiento v2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804" y="1817688"/>
            <a:ext cx="6271163" cy="203150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193" y="1817688"/>
            <a:ext cx="2299635" cy="22996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1475" y="4424561"/>
            <a:ext cx="5366112" cy="1819374"/>
          </a:xfrm>
          <a:prstGeom prst="roundRect">
            <a:avLst>
              <a:gd name="adj" fmla="val 37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1156" y="4604246"/>
            <a:ext cx="240133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Diagnóstico de versiones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41156" y="4949627"/>
            <a:ext cx="5006751" cy="11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 — sin augmentation: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 1.000→0.967 · loss 0.010→0.103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v2 — con augmentation: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 0.771→0.750 · loss 0.529→0.550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 conclusión que PyTorch: v1 sobreajusta, v2 generaliza.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 frameworks → misma lectura =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highlight>
                  <a:srgbClr val="007EBD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 robusto.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164108" y="4424561"/>
            <a:ext cx="5366112" cy="1819374"/>
          </a:xfrm>
          <a:prstGeom prst="roundRect">
            <a:avLst>
              <a:gd name="adj" fmla="val 37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43789" y="4604246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como capas del modelo (se apagan solas al inferir). 3 casos extremos 2→0: se re-evalúan tras converger.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30262"/>
            <a:ext cx="6661281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Estado Actual: </a:t>
            </a:r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Diagnóstico Honesto</a:t>
            </a:r>
            <a:endParaRPr lang="en-US" sz="2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54845"/>
            <a:ext cx="3095250" cy="252462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4022" y="1582341"/>
            <a:ext cx="170057" cy="17006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205" y="2021880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Logrado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822205" y="2318048"/>
            <a:ext cx="2773789" cy="150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de datos completo y funcional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300 imágenes balanceado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y v2 ejecutadas en ambos frameworks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confusión como instrumento diagnóstico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2985" y="1454845"/>
            <a:ext cx="3095349" cy="2524621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5632" y="1582341"/>
            <a:ext cx="170057" cy="17006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23716" y="2021880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Diagnóstico</a:t>
            </a:r>
            <a:endParaRPr lang="en-US" sz="1450" dirty="0"/>
          </a:p>
        </p:txBody>
      </p:sp>
      <p:sp>
        <p:nvSpPr>
          <p:cNvPr id="12" name="Text 5"/>
          <p:cNvSpPr/>
          <p:nvPr/>
        </p:nvSpPr>
        <p:spPr>
          <a:xfrm>
            <a:off x="4023716" y="2318048"/>
            <a:ext cx="2773888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sobreajusta (brecha ~10× en loss)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elimina el sobreajuste con augmentation domain-aware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sub-entrenado: curvas aún subiendo en época 10</a:t>
            </a:r>
            <a:endParaRPr lang="en-US" sz="11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085729"/>
            <a:ext cx="6296860" cy="1942009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4876" y="4213225"/>
            <a:ext cx="170057" cy="17006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2205" y="4652764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Pendiente</a:t>
            </a:r>
            <a:endParaRPr lang="en-US" sz="1450" dirty="0"/>
          </a:p>
        </p:txBody>
      </p:sp>
      <p:sp>
        <p:nvSpPr>
          <p:cNvPr id="16" name="Text 7"/>
          <p:cNvSpPr/>
          <p:nvPr/>
        </p:nvSpPr>
        <p:spPr>
          <a:xfrm>
            <a:off x="822205" y="4948932"/>
            <a:ext cx="5975399" cy="9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de etiquetado frontera 1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gap: ninguna foto real probada aún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Confusión 0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sin resolver (¿ruido en labels?)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MobileNetV3 y exportación móvil (v3)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364"/>
            <a:ext cx="4272649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Próximos </a:t>
            </a:r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Pasos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064" y="1227237"/>
            <a:ext cx="8283467" cy="37911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6743" y="3953333"/>
            <a:ext cx="1555151" cy="629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Exportación móvil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6825" y="3953333"/>
            <a:ext cx="1555152" cy="629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Migrar a MobileNetV3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387559" y="3953333"/>
            <a:ext cx="1555152" cy="629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Prueba con fotos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2395686" y="3953333"/>
            <a:ext cx="1555152" cy="629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Protocolo frontera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61475" y="5172869"/>
            <a:ext cx="3610381" cy="366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Resumen de ejecución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61475" y="5693668"/>
            <a:ext cx="10868745" cy="600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regla:</a:t>
            </a:r>
            <a:pPr algn="l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leer el estado del modelo y responder con la acción correcta — no amontonar técnicas.</a:t>
            </a:r>
            <a:endParaRPr lang="en-US" sz="13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paso cierra un </a:t>
            </a:r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FFFFFF"/>
                </a:solidFill>
                <a:highlight>
                  <a:srgbClr val="007EBD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gap identificado en el diagnóstico</a:t>
            </a:r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reduce riesgo antes de la siguiente iteración.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2026-07-02T01:46:17Z</dcterms:created>
  <dcterms:modified xsi:type="dcterms:W3CDTF">2026-07-02T01:46:17Z</dcterms:modified>
</cp:coreProperties>
</file>